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82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5FA3">
              <a:alpha val="4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645920" cy="310896"/>
          </a:xfrm>
          <a:prstGeom prst="roundRect">
            <a:avLst>
              <a:gd name="adj" fmla="val 2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B3A6B"/>
                </a:solidFill>
              </a:rPr>
              <a:t>ALGORITHM</a:t>
            </a:r>
            <a:r>
              <a:rPr lang="en-US" sz="1000" b="1" dirty="0" smtClean="0">
                <a:solidFill>
                  <a:srgbClr val="1B3A6B"/>
                </a:solidFill>
              </a:rPr>
              <a:t> </a:t>
            </a:r>
            <a:r>
              <a:rPr lang="en-US" sz="1000" b="1" dirty="0">
                <a:solidFill>
                  <a:srgbClr val="1B3A6B"/>
                </a:solidFill>
              </a:rPr>
              <a:t>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Credit-Hour Weighted GPA  |  Sorting &amp; Searching Algorithms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190195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Roll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23774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Subjects per student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85292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out of 100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" y="33284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per subject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88720"/>
            <a:ext cx="265176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1887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Auto GPA Calculator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1901952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GPA formula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2377440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grading scale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2852928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 per subject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328416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calculation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18872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188720"/>
            <a:ext cx="2651760" cy="53035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11887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Rank &amp; Search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45352" y="1901952"/>
            <a:ext cx="109728" cy="10972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GPA (highest first)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45352" y="2377440"/>
            <a:ext cx="109728" cy="10972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algorithm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45352" y="2852928"/>
            <a:ext cx="109728" cy="10972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algorithm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45352" y="3328416"/>
            <a:ext cx="109728" cy="109728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Roll Number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STORAGE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 Data is Stored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3566160"/>
          </a:xfrm>
          <a:prstGeom prst="rect">
            <a:avLst/>
          </a:prstGeom>
          <a:solidFill>
            <a:srgbClr val="F2F4F7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832104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556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17556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Sadeem Choudhary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225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Roll Number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23225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66385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895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GPA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288950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  (auto-calculated)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38144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564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Total Credits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11680" y="34564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(sum of all subjects)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1691640"/>
            <a:ext cx="429768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691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|  Marks  |  Credits  |  Grade Pts  |  Grade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2084832"/>
            <a:ext cx="4297680" cy="43891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103120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57216" y="2103120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16752" y="2103120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2103120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35824" y="2103120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560320"/>
            <a:ext cx="4297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578608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57216" y="2578608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2578608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76288" y="2578608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35824" y="2578608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3035808"/>
            <a:ext cx="4297680" cy="43891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054096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3054096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16752" y="3054096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054096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35824" y="3054096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3511296"/>
            <a:ext cx="4297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3529584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57216" y="3529584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16752" y="3529584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3529584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35824" y="3529584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3986784"/>
            <a:ext cx="4297680" cy="43891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4005072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57216" y="4005072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16752" y="4005072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76288" y="4005072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35824" y="4005072"/>
            <a:ext cx="859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GPA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GPA is Calculated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8321040" cy="868680"/>
          </a:xfrm>
          <a:prstGeom prst="rect">
            <a:avLst/>
          </a:prstGeom>
          <a:solidFill>
            <a:srgbClr val="2E5FA3">
              <a:alpha val="7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229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GPA  =  Sum of ( Grade Points × Credit Hours )  ÷  Total Credit Hours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2011680" cy="2606040"/>
          </a:xfrm>
          <a:prstGeom prst="rect">
            <a:avLst/>
          </a:prstGeom>
          <a:solidFill>
            <a:srgbClr val="2E5FA3">
              <a:alpha val="5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226771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18688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marks (0-100) for each subject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3474720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194560"/>
            <a:ext cx="2011680" cy="2606040"/>
          </a:xfrm>
          <a:prstGeom prst="rect">
            <a:avLst/>
          </a:prstGeom>
          <a:solidFill>
            <a:srgbClr val="2E5FA3">
              <a:alpha val="5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226771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Grade 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218688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marks → 4.0 pts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marks → 2.7 pts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474720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194560"/>
            <a:ext cx="2011680" cy="2606040"/>
          </a:xfrm>
          <a:prstGeom prst="rect">
            <a:avLst/>
          </a:prstGeom>
          <a:solidFill>
            <a:srgbClr val="2E5FA3">
              <a:alpha val="5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13832" y="226771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Credits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218688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× 3 credits = 12.0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× 2 credits = 5.4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3474720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194560"/>
            <a:ext cx="2011680" cy="2606040"/>
          </a:xfrm>
          <a:prstGeom prst="rect">
            <a:avLst/>
          </a:prstGeom>
          <a:solidFill>
            <a:srgbClr val="2E5FA3">
              <a:alpha val="5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226771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267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218688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Total Credits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Weighted GPA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(4.0×3 + 2.7×2 + 4.0×3 + 2.3×2 + 3.3×3) ÷ 13  =  3.38 GPA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GRADING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University Grading Scale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3794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Outstanding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71–74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68–70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64–67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61–63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54–57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SORTING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577840" y="502920"/>
            <a:ext cx="10972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502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 O(n)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502920"/>
            <a:ext cx="1097280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502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  O(n²)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502920"/>
            <a:ext cx="109728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502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O(n²)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170432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170432"/>
            <a:ext cx="64008" cy="3749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17190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two students next to each other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212848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1945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left GPA is smaller → swap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2688336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670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doing this across the whole 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163824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145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round, biggest GPA moves front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639312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6210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early if no swap happened (sorted!)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0690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17043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  (4 Students)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8888" y="18288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181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18888" y="24871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487168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2487168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32320" y="2487168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18120" y="2487168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18888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3145536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46520" y="3145536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132320" y="3145536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818120" y="3145536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81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18888" y="38039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 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607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465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323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8181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181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18888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 — swaps in-place, no extra memory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SORTING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212080" y="502920"/>
            <a:ext cx="123444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Cases O(n²)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10528" y="502920"/>
            <a:ext cx="1234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n−1 Swaps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08976" y="502920"/>
            <a:ext cx="1234440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170432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170432"/>
            <a:ext cx="64008" cy="3749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17190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student with highest GPA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212848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1945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them at position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2688336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670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find next highest GPA student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163824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3145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them at position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639312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6210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everyone is ranked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0690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17043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  (4 Students)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8888" y="18288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1828800"/>
            <a:ext cx="6217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18120" y="1828800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182880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18888" y="24871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487168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2487168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32320" y="2487168"/>
            <a:ext cx="6217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18120" y="2487168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24871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18888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3145536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46520" y="3145536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132320" y="3145536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818120" y="3145536"/>
            <a:ext cx="621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8120" y="314553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18888" y="380390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 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607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465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323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818120" y="3803904"/>
            <a:ext cx="62179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18120" y="380390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18888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placed correctly   |   Orange = currently selected max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vs  Selection Sort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3840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143000"/>
            <a:ext cx="265176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143000"/>
            <a:ext cx="29260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143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Bubble Sort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143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Selection Sort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572768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9105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08960" y="1572768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9105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adjacent pairs repeatedly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1572768"/>
            <a:ext cx="292608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59105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max, place at front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139696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5798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08960" y="2139696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15798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— exits early if sorted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2139696"/>
            <a:ext cx="29260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15798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always scans all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2706624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2491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08960" y="2706624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72491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06440" y="2706624"/>
            <a:ext cx="292608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72491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273552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91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Swaps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08960" y="3273552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91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n(n-1)/2  (many)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06440" y="3273552"/>
            <a:ext cx="29260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29184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n-1  (very few)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" y="3840480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587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108960" y="3840480"/>
            <a:ext cx="265176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8587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in-place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806440" y="3840480"/>
            <a:ext cx="2926080" cy="530352"/>
          </a:xfrm>
          <a:prstGeom prst="rect">
            <a:avLst/>
          </a:prstGeom>
          <a:solidFill>
            <a:srgbClr val="F2F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385876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in-place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1480" y="4407408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2569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When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108960" y="4407408"/>
            <a:ext cx="26517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442569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sorted data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806440" y="4407408"/>
            <a:ext cx="292608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0" y="442569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Write-limited memory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64008" cy="3749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190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first student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12848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1945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roll number match?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688336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670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Found! Show the student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163824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145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Move to next student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639312"/>
            <a:ext cx="320040" cy="320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6210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found or end of 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0690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Roll = 103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18888" y="1828800"/>
            <a:ext cx="3566160" cy="475488"/>
          </a:xfrm>
          <a:prstGeom prst="rect">
            <a:avLst/>
          </a:prstGeom>
          <a:solidFill>
            <a:srgbClr val="FECACA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18470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101  |  Ali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18470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Skip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18888" y="2377440"/>
            <a:ext cx="3566160" cy="475488"/>
          </a:xfrm>
          <a:prstGeom prst="rect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23957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103  |  Sadeem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23957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FOUND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18888" y="292608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9443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102  |  Zara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294436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347472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4930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104  |  Ahmed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34930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18888" y="4114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2 students to find Roll 103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18888" y="4462272"/>
            <a:ext cx="117043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44622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O(1)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4462272"/>
            <a:ext cx="1170432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4622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O(n)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42632" y="4462272"/>
            <a:ext cx="1170432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42632" y="44622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64008" cy="3749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190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students by roll number first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12848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1945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MIDDLE student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688336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670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roll matches → Found!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163824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145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target &gt; middle → search right half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639312"/>
            <a:ext cx="320040" cy="3200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6210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target &lt; middle → search left half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0690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Roll = 103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18888" y="1810512"/>
            <a:ext cx="4572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12664" y="1810512"/>
            <a:ext cx="457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1810512"/>
            <a:ext cx="457200" cy="475488"/>
          </a:xfrm>
          <a:prstGeom prst="rect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0216" y="1810512"/>
            <a:ext cx="457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93992" y="1810512"/>
            <a:ext cx="457200" cy="4754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87768" y="1810512"/>
            <a:ext cx="4572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87768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81544" y="1810512"/>
            <a:ext cx="4572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81544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75320" y="1810512"/>
            <a:ext cx="4572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18888" y="23774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mid=105 (too big) → search left half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18888" y="2788920"/>
            <a:ext cx="457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27889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12664" y="2788920"/>
            <a:ext cx="457200" cy="4754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2664" y="27889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06440" y="2788920"/>
            <a:ext cx="457200" cy="475488"/>
          </a:xfrm>
          <a:prstGeom prst="rect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27889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00216" y="2788920"/>
            <a:ext cx="457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0216" y="27889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18888" y="33375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mid=102 (too small) → search right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18888" y="3749040"/>
            <a:ext cx="457200" cy="475488"/>
          </a:xfrm>
          <a:prstGeom prst="rect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37490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12664" y="3749040"/>
            <a:ext cx="457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12664" y="37490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18888" y="4279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mid=103 → ✓ FOUND!  (only 3 steps!)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18888" y="4663440"/>
            <a:ext cx="117043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18888" y="46634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O(1)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0760" y="4663440"/>
            <a:ext cx="1170432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46634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O(log n)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42632" y="4663440"/>
            <a:ext cx="1170432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42632" y="46634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092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Model: Every comparison, swap, or array access = 1 unit of work. T(n) = total work as n (students) grows.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8321040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 early if already sorted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Fewest swaps (n-1 max)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any unsorted 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 faster than linear for n=1000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754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1000 students: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468880" y="47548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up to 1000 steps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only ~10 steps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5FA3">
              <a:alpha val="6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7223760" cy="804672"/>
          </a:xfrm>
          <a:prstGeom prst="rect">
            <a:avLst/>
          </a:prstGeom>
          <a:solidFill>
            <a:srgbClr val="2E5FA3">
              <a:alpha val="4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Weighted GPA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 decide how much each subject affects GPA — just like real university.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7223760" cy="804672"/>
          </a:xfrm>
          <a:prstGeom prst="rect">
            <a:avLst/>
          </a:prstGeom>
          <a:solidFill>
            <a:srgbClr val="2E5FA3">
              <a:alpha val="4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488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762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Bubble Sort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list is nearly sorted. Exits early saving time — O(n) best case.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7223760" cy="804672"/>
          </a:xfrm>
          <a:prstGeom prst="rect">
            <a:avLst/>
          </a:prstGeom>
          <a:solidFill>
            <a:srgbClr val="2E5FA3">
              <a:alpha val="4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632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906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Selection Sort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34670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finds minimum swaps (n−1). Best when write operations are costly.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977640"/>
            <a:ext cx="7223760" cy="804672"/>
          </a:xfrm>
          <a:prstGeom prst="rect">
            <a:avLst/>
          </a:prstGeom>
          <a:solidFill>
            <a:srgbClr val="2E5FA3">
              <a:alpha val="45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9776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050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Binary 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26110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search space in half each step. 1000 students → only 10 comparisons.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8006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Sadeem  |  Data Structures &amp; Algorithms Project 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1017</Words>
  <Application>Microsoft Office PowerPoint</Application>
  <PresentationFormat>On-screen Show (16:9)</PresentationFormat>
  <Paragraphs>341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&amp; Ranking System</dc:title>
  <dc:subject>PptxGenJS Presentation</dc:subject>
  <dc:creator>Sadeem</dc:creator>
  <cp:lastModifiedBy>Sadeem</cp:lastModifiedBy>
  <cp:revision>3</cp:revision>
  <dcterms:created xsi:type="dcterms:W3CDTF">2026-05-11T08:51:24Z</dcterms:created>
  <dcterms:modified xsi:type="dcterms:W3CDTF">2026-05-11T14:13:29Z</dcterms:modified>
</cp:coreProperties>
</file>